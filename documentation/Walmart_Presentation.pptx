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1051560"/>
            <a:ext cx="1463040" cy="1463040"/>
          </a:xfrm>
          <a:prstGeom prst="roundRect">
            <a:avLst>
              <a:gd name="adj" fmla="val 17500"/>
            </a:avLst>
          </a:prstGeom>
          <a:solidFill>
            <a:srgbClr val="0071CE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965960"/>
            <a:ext cx="20116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1691640"/>
            <a:ext cx="201168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417320"/>
            <a:ext cx="201168" cy="960120"/>
          </a:xfrm>
          <a:prstGeom prst="rect">
            <a:avLst/>
          </a:prstGeom>
          <a:solidFill>
            <a:srgbClr val="FFC2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Walmart Sales Forecasting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MODELING 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weekly sales for 45 stores, 12 weeks ahead, using a seasonal time-series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Siddu  •  B.Sc. Mathematics, Statistics &amp; Data Science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github.com/sidducv0528/Walmart-Sales-Forecasting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071C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84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forecasting, and what data we have to work with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FFC2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127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weekly sales across 45 stores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2FB8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270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methodology, and an honest note on exogenous variables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D94F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Dashboard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413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accuracy, and the interactive Streamlit app built around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records across all Walmart stores in scope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6,435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7F8E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DF1E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per 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CE9EA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2010 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2012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06840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Store, Date, Weekly_Sales, Holiday_Flag, Temperature, Fuel_Price, CPI, Unemployment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Weekly Sales?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exploratory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1168" cy="201168"/>
          </a:xfrm>
          <a:prstGeom prst="ellipse">
            <a:avLst/>
          </a:prstGeom>
          <a:solidFill>
            <a:srgbClr val="0071C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 dominates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sharply in Nov–Dec (Thanksgiving/Christmas). Holiday weeks run ~7–8% higher than non-holiday weeks.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201168" cy="201168"/>
          </a:xfrm>
          <a:prstGeom prst="ellipse">
            <a:avLst/>
          </a:prstGeom>
          <a:solidFill>
            <a:srgbClr val="FFC22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620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Unemployment &amp; CPI: weak signal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2278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under 0.1 correlation with sales at the aggregate level — though a handful of stores are more sensitive than others.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23944"/>
            <a:ext cx="201168" cy="201168"/>
          </a:xfrm>
          <a:prstGeom prst="ellipse">
            <a:avLst/>
          </a:prstGeom>
          <a:solidFill>
            <a:srgbClr val="2FB87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03250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Temperature: minimal effect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398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≈ −0.02 with weekly sales — essentially no relationship.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94376"/>
            <a:ext cx="201168" cy="201168"/>
          </a:xfrm>
          <a:prstGeom prst="ellipse">
            <a:avLst/>
          </a:prstGeom>
          <a:solidFill>
            <a:srgbClr val="D94F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0293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 varies widely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556869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store sold over 7× the volume of the worst store — argues for store-level, not chain-wide, planning.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exploration, built into the app</a:t>
            </a:r>
            <a:endParaRPr lang="en-US" sz="1300" dirty="0"/>
          </a:p>
        </p:txBody>
      </p:sp>
      <p:pic>
        <p:nvPicPr>
          <p:cNvPr id="4" name="Image 0" descr="images/eda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1088136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8F1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(1,1,1)(1,1,1,52)</a:t>
            </a:r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fit independently for each of the 45 stores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order of 52 captures the yearly weekly cycle directly — this is what drives the holiday-season spike observed in nearly every store, without needing a separate holiday input.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12 weeks of each store's history are held out as a test set. The model trains on all prior weeks, then forecasts are scored against the held-out actuals using MAE, RMSE, and MAPE — computed per store, not pooled.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89204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Model Naming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vs. SARIMAX — why exogenous variables were excluded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FDF1E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includes Holiday_Flag, CPI, and Unemployment as candidate exogenous regressors. </a:t>
            </a:r>
            <a:pPr indent="0" marL="0">
              <a:buNone/>
            </a:pPr>
            <a:r>
              <a:rPr lang="en-US" sz="1300" b="1" dirty="0">
                <a:solidFill>
                  <a:srgbClr val="8A5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were evaluated and deliberately NOT included as exogenous inputs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two reasons backed by the EDA: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effects are already captured by the seasonal (…,52) term — adding Holiday_Flag separately would be largely redundant.
</a:t>
            </a:r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and Unemployment move slowly month-to-month and showed weak correlation with weekly sales at the store level — unlikely to meaningfully improve a 12-week forecast.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implemented using statsmodels' </a:t>
            </a:r>
            <a:pPr indent="0" marL="0">
              <a:buNone/>
            </a:pPr>
            <a:r>
              <a:rPr lang="en-US" sz="1250" dirty="0">
                <a:solidFill>
                  <a:srgbClr val="8A5A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SARIMAX</a:t>
            </a:r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 (which supports exogenous inputs), but none are passed — functionally this is a </a:t>
            </a:r>
            <a:pPr indent="0" marL="0">
              <a:buNone/>
            </a:pPr>
            <a:r>
              <a:rPr lang="en-US" sz="1250" b="1" dirty="0">
                <a:solidFill>
                  <a:srgbClr val="8A5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ARIMA (SARIMA)</a:t>
            </a:r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model, not true SARIMAX.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is tested, not assumed — see the correlation checks in the notebook.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across all 45 stores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182880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E7F8EF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Store (37)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9560" y="182880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FCE9EA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14.15%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095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Store (35)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45 stores, the model averages 3.66% MAPE — rated Excellent. Store 35 is the only store outside the Excellent band, still rated Good.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Per-Store Forecasting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forecast, actual vs. predicted on held-out weeks</a:t>
            </a:r>
            <a:endParaRPr lang="en-US" sz="1300" dirty="0"/>
          </a:p>
        </p:txBody>
      </p:sp>
      <p:pic>
        <p:nvPicPr>
          <p:cNvPr id="4" name="Image 0" descr="images/sales-forecas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1088136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Stores — Model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by store, sorted, with best/worst breakdown</a:t>
            </a:r>
            <a:endParaRPr lang="en-US" sz="1300" dirty="0"/>
          </a:p>
        </p:txBody>
      </p:sp>
      <p:pic>
        <p:nvPicPr>
          <p:cNvPr id="4" name="Image 0" descr="images/all-stores-forec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1088136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pandas, numpy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— SARIMAX class (used as SARIMA)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 — interactive dashboard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 — deployment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true SARIMAX with exogenous regressors vs. the SARIMA baseline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hyperparameter tuning (e.g. auto_arima) instead of one fixed order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Store 35 specifically — the one underperformer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refresh pipeline with a scheduled job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 — Dashboard &amp; Modeling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github.com/sidducv0528</a:t>
            </a:r>
            <a:endParaRPr lang="en-US" sz="13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linkedin.com/in/siddu-data</a:t>
            </a:r>
            <a:endParaRPr lang="en-US" sz="13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sidducv0528@gmail.com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Sales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2026-08-05T08:08:37Z</dcterms:created>
  <dcterms:modified xsi:type="dcterms:W3CDTF">2026-08-05T08:08:37Z</dcterms:modified>
</cp:coreProperties>
</file>